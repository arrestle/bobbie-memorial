
<file path=[Content_Types].xml><?xml version="1.0" encoding="utf-8"?>
<Types xmlns="http://schemas.openxmlformats.org/package/2006/content-types">
  <Default Extension="png" ContentType="image/png"/>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0-1.jpg" ContentType="image/jpg"/>
  <Override PartName="/ppt/media/image-11-1.jpg" ContentType="image/jpg"/>
  <Override PartName="/ppt/media/image-12-1.jpg" ContentType="image/jpg"/>
  <Override PartName="/ppt/media/image-13-1.jpg" ContentType="image/jpg"/>
  <Override PartName="/ppt/media/image-14-1.jpg" ContentType="image/jpg"/>
  <Override PartName="/ppt/media/image-15-1.jpg" ContentType="image/jpg"/>
  <Override PartName="/ppt/media/image-16-1.jpg" ContentType="image/jpg"/>
  <Override PartName="/ppt/media/image-16-2.jpg" ContentType="image/jpg"/>
  <Override PartName="/ppt/media/image-2-1.jpg" ContentType="image/jpg"/>
  <Override PartName="/ppt/media/image-2-2.jpg" ContentType="image/jpg"/>
  <Override PartName="/ppt/media/image-3-1.jpg" ContentType="image/jpg"/>
  <Override PartName="/ppt/media/image-4-1.jpg" ContentType="image/jpg"/>
  <Override PartName="/ppt/media/image-5-1.jpg" ContentType="image/jpg"/>
  <Override PartName="/ppt/media/image-6-1.jpg" ContentType="image/jpg"/>
  <Override PartName="/ppt/media/image-6-2.jpg" ContentType="image/jpg"/>
  <Override PartName="/ppt/media/image-7-1.jpg" ContentType="image/jpg"/>
  <Override PartName="/ppt/media/image-8-1.jpg" ContentType="image/jpg"/>
  <Override PartName="/ppt/media/image-9-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2" r:id="rId23"/>
    <p:sldId id="257" r:id="rId3"/>
    <p:sldId id="258" r:id="rId4"/>
    <p:sldId id="259" r:id="rId5"/>
    <p:sldId id="268" r:id="rId14"/>
    <p:sldId id="269" r:id="rId15"/>
    <p:sldId id="273" r:id="rId24"/>
    <p:sldId id="260" r:id="rId6"/>
    <p:sldId id="261" r:id="rId7"/>
    <p:sldId id="274" r:id="rId25"/>
    <p:sldId id="262" r:id="rId8"/>
    <p:sldId id="263" r:id="rId9"/>
    <p:sldId id="264" r:id="rId10"/>
    <p:sldId id="265" r:id="rId11"/>
    <p:sldId id="266" r:id="rId12"/>
    <p:sldId id="267" r:id="rId13"/>
    <p:sldId id="275" r:id="rId26"/>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1.jpg"/></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 Id="rId4" Type="http://schemas.openxmlformats.org/officeDocument/2006/relationships/image" Target="../media/image1.jpg"/></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1.jpg"/></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 Id="rId4"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1.jpg"/></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2E"/>
        </a:solidFill>
      </p:bgPr>
    </p:bg>
    <p:spTree>
      <p:nvGrpSpPr>
        <p:cNvPr id="1" name=""/>
        <p:cNvGrpSpPr/>
        <p:nvPr/>
      </p:nvGrpSpPr>
      <p:grpSpPr>
        <a:xfrm>
          <a:off x="0" y="0"/>
          <a:ext cx="0" cy="0"/>
          <a:chOff x="0" y="0"/>
          <a:chExt cx="0" cy="0"/>
        </a:xfrm>
      </p:grpSpPr>
      <p:sp>
        <p:nvSpPr>
          <p:cNvPr id="2" name="Text 0"/>
          <p:cNvSpPr/>
          <p:nvPr/>
        </p:nvSpPr>
        <p:spPr>
          <a:xfrm>
            <a:off x="731520" y="1188720"/>
            <a:ext cx="5852160" cy="173736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Mom, born to fly, in pictures</a:t>
            </a:r>
            <a:endParaRPr lang="en-US" sz="4400" dirty="0"/>
          </a:p>
        </p:txBody>
      </p:sp>
      <p:sp>
        <p:nvSpPr>
          <p:cNvPr id="3" name="Text 1"/>
          <p:cNvSpPr/>
          <p:nvPr/>
        </p:nvSpPr>
        <p:spPr>
          <a:xfrm>
            <a:off x="731520" y="3154680"/>
            <a:ext cx="5486400" cy="548640"/>
          </a:xfrm>
          <a:prstGeom prst="rect">
            <a:avLst/>
          </a:prstGeom>
          <a:noFill/>
          <a:ln/>
        </p:spPr>
        <p:txBody>
          <a:bodyPr wrap="square" lIns="0" tIns="0" rIns="0" bIns="0" rtlCol="0" anchor="ctr"/>
          <a:lstStyle/>
          <a:p>
            <a:pPr indent="0" marL="0">
              <a:buNone/>
            </a:pPr>
            <a:r>
              <a:rPr lang="en-US" sz="2600" dirty="0">
                <a:solidFill>
                  <a:srgbClr val="C9A461"/>
                </a:solidFill>
                <a:latin typeface="Cambria" pitchFamily="34" charset="0"/>
                <a:ea typeface="Cambria" pitchFamily="34" charset="-122"/>
                <a:cs typeface="Cambria" pitchFamily="34" charset="-120"/>
              </a:rPr>
              <a:t>For Phillip</a:t>
            </a:r>
            <a:endParaRPr lang="en-US" sz="2600" dirty="0"/>
          </a:p>
        </p:txBody>
      </p:sp>
      <p:sp>
        <p:nvSpPr>
          <p:cNvPr id="4" name="Text 2"/>
          <p:cNvSpPr/>
          <p:nvPr/>
        </p:nvSpPr>
        <p:spPr>
          <a:xfrm>
            <a:off x="731520" y="3886200"/>
            <a:ext cx="5486400" cy="548640"/>
          </a:xfrm>
          <a:prstGeom prst="rect">
            <a:avLst/>
          </a:prstGeom>
          <a:noFill/>
          <a:ln/>
        </p:spPr>
        <p:txBody>
          <a:bodyPr wrap="square" lIns="0" tIns="0" rIns="0" bIns="0" rtlCol="0" anchor="ctr"/>
          <a:lstStyle/>
          <a:p>
            <a:pPr indent="0" marL="0">
              <a:buNone/>
            </a:pPr>
            <a:r>
              <a:rPr lang="en-US" sz="1700" dirty="0">
                <a:solidFill>
                  <a:srgbClr val="F2EFE8"/>
                </a:solidFill>
                <a:latin typeface="Calibri" pitchFamily="34" charset="0"/>
                <a:ea typeface="Calibri" pitchFamily="34" charset="-122"/>
                <a:cs typeface="Calibri" pitchFamily="34" charset="-120"/>
              </a:rPr>
              <a:t>Flying dangerously close to the sun</a:t>
            </a:r>
            <a:endParaRPr lang="en-US" sz="1700" dirty="0"/>
          </a:p>
        </p:txBody>
      </p:sp>
      <p:pic>
        <p:nvPicPr>
          <p:cNvPr id="5" name="Image 0" descr="/private/tmp/claude-501/-Users-andrearestle-lay-Library-CloudStorage-GoogleDrive-andrearestlelay-gmail-com-My-Drive-2026-Meadowood/b871f448-9862-4656-8c1d-a157f8f50499/scratchpad/phil/cover.jpg">    </p:cNvPr>
          <p:cNvPicPr>
            <a:picLocks noChangeAspect="1"/>
          </p:cNvPicPr>
          <p:nvPr/>
        </p:nvPicPr>
        <p:blipFill>
          <a:blip r:embed="rId1"/>
          <a:stretch>
            <a:fillRect/>
          </a:stretch>
        </p:blipFill>
        <p:spPr>
          <a:xfrm>
            <a:off x="7075170" y="548640"/>
            <a:ext cx="4320540" cy="5760720"/>
          </a:xfrm>
          <a:prstGeom prst="rect">
            <a:avLst/>
          </a:prstGeom>
          <a:effectLst>
            <a:outerShdw sx="100000" sy="100000" kx="0" ky="0" algn="bl" rotWithShape="0" blurRad="101600" dist="38100" dir="2700000">
              <a:srgbClr val="000000">
                <a:alpha val="75000"/>
              </a:srgbClr>
            </a:outerShdw>
          </a:effectLst>
        </p:spPr>
      </p:pic>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t83.jpg">    </p:cNvPr>
          <p:cNvPicPr>
            <a:picLocks noChangeAspect="1"/>
          </p:cNvPicPr>
          <p:nvPr/>
        </p:nvPicPr>
        <p:blipFill>
          <a:blip r:embed="rId1"/>
          <a:stretch>
            <a:fillRect/>
          </a:stretch>
        </p:blipFill>
        <p:spPr>
          <a:xfrm>
            <a:off x="788014" y="365760"/>
            <a:ext cx="5099093" cy="4937760"/>
          </a:xfrm>
          <a:prstGeom prst="rect">
            <a:avLst/>
          </a:prstGeom>
          <a:effectLst>
            <a:outerShdw sx="100000" sy="100000" kx="0" ky="0" algn="bl" rotWithShape="0" blurRad="101600" dist="38100" dir="2700000">
              <a:srgbClr val="000000">
                <a:alpha val="75000"/>
              </a:srgbClr>
            </a:outerShdw>
          </a:effectLst>
        </p:spPr>
      </p:pic>
      <p:pic>
        <p:nvPicPr>
          <p:cNvPr id="3" name="Image 1" descr="/private/tmp/claude-501/-Users-andrearestle-lay-Library-CloudStorage-GoogleDrive-andrearestlelay-gmail-com-My-Drive-2026-Meadowood/b871f448-9862-4656-8c1d-a157f8f50499/scratchpad/phil/t85.jpg">    </p:cNvPr>
          <p:cNvPicPr>
            <a:picLocks noChangeAspect="1"/>
          </p:cNvPicPr>
          <p:nvPr/>
        </p:nvPicPr>
        <p:blipFill>
          <a:blip r:embed="rId2"/>
          <a:stretch>
            <a:fillRect/>
          </a:stretch>
        </p:blipFill>
        <p:spPr>
          <a:xfrm>
            <a:off x="6362127" y="365760"/>
            <a:ext cx="4923666" cy="4937760"/>
          </a:xfrm>
          <a:prstGeom prst="rect">
            <a:avLst/>
          </a:prstGeom>
          <a:effectLst>
            <a:outerShdw sx="100000" sy="100000" kx="0" ky="0" algn="bl" rotWithShape="0" blurRad="101600" dist="38100" dir="2700000">
              <a:srgbClr val="000000">
                <a:alpha val="75000"/>
              </a:srgbClr>
            </a:outerShdw>
          </a:effectLst>
        </p:spPr>
      </p:pic>
      <p:sp>
        <p:nvSpPr>
          <p:cNvPr id="4"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Laying the clay tile, c. 1965–1970</a:t>
            </a:r>
            <a:endParaRPr lang="en-US" sz="2200" dirty="0"/>
          </a:p>
        </p:txBody>
      </p:sp>
      <p:sp>
        <p:nvSpPr>
          <p:cNvPr id="5"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The children helped lay clay drainage tile behind the tile-laying machine to turn the Bottom Road swamp into cornland.</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d1.jpg">    </p:cNvPr>
          <p:cNvPicPr>
            <a:picLocks noChangeAspect="1"/>
          </p:cNvPicPr>
          <p:nvPr/>
        </p:nvPicPr>
        <p:blipFill>
          <a:blip r:embed="rId1"/>
          <a:stretch>
            <a:fillRect/>
          </a:stretch>
        </p:blipFill>
        <p:spPr>
          <a:xfrm>
            <a:off x="3102147" y="365760"/>
            <a:ext cx="5957225"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Digging the drainage trench, c. 1965–1970</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Draining the Bottom Road swamp for cornland, laying clay tile behind the machine. Decades later Mom had the tile torn out, restored the wetland and gave the land away.</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chain_enh.jpg">    </p:cNvPr>
          <p:cNvPicPr>
            <a:picLocks noChangeAspect="1"/>
          </p:cNvPicPr>
          <p:nvPr/>
        </p:nvPicPr>
        <p:blipFill>
          <a:blip r:embed="rId1"/>
          <a:stretch>
            <a:fillRect/>
          </a:stretch>
        </p:blipFill>
        <p:spPr>
          <a:xfrm>
            <a:off x="3651206" y="365760"/>
            <a:ext cx="4859109"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The chain gang, 1964</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"We were definitely child labor and were worked hard." (Andrea)</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f1.jpg">    </p:cNvPr>
          <p:cNvPicPr>
            <a:picLocks noChangeAspect="1"/>
          </p:cNvPicPr>
          <p:nvPr/>
        </p:nvPicPr>
        <p:blipFill>
          <a:blip r:embed="rId1"/>
          <a:stretch>
            <a:fillRect/>
          </a:stretch>
        </p:blipFill>
        <p:spPr>
          <a:xfrm>
            <a:off x="2331720" y="365760"/>
            <a:ext cx="7498080"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"Now Can I Fly Your Cessna, Dick!"</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Barbara with her brother Dick's Cessna, c. 1966, around the time she earned her pilot's license.</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f2.jpg">    </p:cNvPr>
          <p:cNvPicPr>
            <a:picLocks noChangeAspect="1"/>
          </p:cNvPicPr>
          <p:nvPr/>
        </p:nvPicPr>
        <p:blipFill>
          <a:blip r:embed="rId1"/>
          <a:stretch>
            <a:fillRect/>
          </a:stretch>
        </p:blipFill>
        <p:spPr>
          <a:xfrm>
            <a:off x="731520" y="1077742"/>
            <a:ext cx="5212080" cy="3513796"/>
          </a:xfrm>
          <a:prstGeom prst="rect">
            <a:avLst/>
          </a:prstGeom>
          <a:effectLst>
            <a:outerShdw sx="100000" sy="100000" kx="0" ky="0" algn="bl" rotWithShape="0" blurRad="101600" dist="38100" dir="2700000">
              <a:srgbClr val="000000">
                <a:alpha val="75000"/>
              </a:srgbClr>
            </a:outerShdw>
          </a:effectLst>
        </p:spPr>
      </p:pic>
      <p:pic>
        <p:nvPicPr>
          <p:cNvPr id="3" name="Image 1" descr="/private/tmp/claude-501/-Users-andrearestle-lay-Library-CloudStorage-GoogleDrive-andrearestlelay-gmail-com-My-Drive-2026-Meadowood/b871f448-9862-4656-8c1d-a157f8f50499/scratchpad/phil/f3.jpg">    </p:cNvPr>
          <p:cNvPicPr>
            <a:picLocks noChangeAspect="1"/>
          </p:cNvPicPr>
          <p:nvPr/>
        </p:nvPicPr>
        <p:blipFill>
          <a:blip r:embed="rId2"/>
          <a:stretch>
            <a:fillRect/>
          </a:stretch>
        </p:blipFill>
        <p:spPr>
          <a:xfrm>
            <a:off x="6217920" y="1123340"/>
            <a:ext cx="5212080" cy="3422599"/>
          </a:xfrm>
          <a:prstGeom prst="rect">
            <a:avLst/>
          </a:prstGeom>
          <a:effectLst>
            <a:outerShdw sx="100000" sy="100000" kx="0" ky="0" algn="bl" rotWithShape="0" blurRad="101600" dist="38100" dir="2700000">
              <a:srgbClr val="000000">
                <a:alpha val="75000"/>
              </a:srgbClr>
            </a:outerShdw>
          </a:effectLst>
        </p:spPr>
      </p:pic>
      <p:sp>
        <p:nvSpPr>
          <p:cNvPr id="4"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Flying over the refuge at 90, spring 2017</a:t>
            </a:r>
            <a:endParaRPr lang="en-US" sz="2200" dirty="0"/>
          </a:p>
        </p:txBody>
      </p:sp>
      <p:sp>
        <p:nvSpPr>
          <p:cNvPr id="5"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The only photo of Mom with her plane. On the back she wrote: "I wish I was able to still pilot a Cessna. Great Pilot - we will fly again!"</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4"/>
          <a:srcRect/>
          <a:stretch>
            <a:fillRect/>
          </a:stretch>
        </a:blipFill>
        <a:effectLst/>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pp204.jpg">    </p:cNvPr>
          <p:cNvPicPr>
            <a:picLocks noChangeAspect="1"/>
          </p:cNvPicPr>
          <p:nvPr/>
        </p:nvPicPr>
        <p:blipFill>
          <a:blip r:embed="rId1"/>
          <a:stretch>
            <a:fillRect/>
          </a:stretch>
        </p:blipFill>
        <p:spPr>
          <a:xfrm>
            <a:off x="1691640" y="365760"/>
            <a:ext cx="8778240" cy="4937760"/>
          </a:xfrm>
          <a:prstGeom prst="rect">
            <a:avLst/>
          </a:prstGeom>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3B2A1A"/>
                </a:solidFill>
                <a:latin typeface="Cambria" pitchFamily="34" charset="0"/>
                <a:ea typeface="Cambria" pitchFamily="34" charset="-122"/>
                <a:cs typeface="Cambria" pitchFamily="34" charset="-120"/>
              </a:rPr>
              <a:t>Her first passport, 1973–1978</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4A3A28"/>
                </a:solidFill>
                <a:latin typeface="Calibri" pitchFamily="34" charset="0"/>
                <a:ea typeface="Calibri" pitchFamily="34" charset="-122"/>
                <a:cs typeface="Calibri" pitchFamily="34" charset="-120"/>
              </a:rPr>
              <a:t>Her first passport, issued on her 47th birthday in 1973. Its stamps trace a summer in Portugal and Madeira with Kathleen, then, after her 1977 degree, three months across Europe and behind the Iron Curtain: Paris, England, Hungary, the Soviet border, Poland, East Germany and Berlin, Athens and Madrid, home at Christmas.</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5A4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4"/>
          <a:srcRect/>
          <a:stretch>
            <a:fillRect/>
          </a:stretch>
        </a:blipFill>
        <a:effectLst/>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barbara_map.jpg">    </p:cNvPr>
          <p:cNvPicPr>
            <a:picLocks noChangeAspect="1"/>
          </p:cNvPicPr>
          <p:nvPr/>
        </p:nvPicPr>
        <p:blipFill>
          <a:blip r:embed="rId1"/>
          <a:stretch>
            <a:fillRect/>
          </a:stretch>
        </p:blipFill>
        <p:spPr>
          <a:xfrm>
            <a:off x="1691640" y="365760"/>
            <a:ext cx="8778240" cy="4937760"/>
          </a:xfrm>
          <a:prstGeom prst="rect">
            <a:avLst/>
          </a:prstGeom>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3B2A1A"/>
                </a:solidFill>
                <a:latin typeface="Cambria" pitchFamily="34" charset="0"/>
                <a:ea typeface="Cambria" pitchFamily="34" charset="-122"/>
                <a:cs typeface="Cambria" pitchFamily="34" charset="-120"/>
              </a:rPr>
              <a:t>Map: her first passport journeys, 1973 and 1977</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4A3A28"/>
                </a:solidFill>
                <a:latin typeface="Calibri" pitchFamily="34" charset="0"/>
                <a:ea typeface="Calibri" pitchFamily="34" charset="-122"/>
                <a:cs typeface="Calibri" pitchFamily="34" charset="-120"/>
              </a:rPr>
              <a:t>Where the passport stamps take her: Portugal and Madeira with Kathleen in 1973, and in autumn 1977 a loop from Paris and England through West Germany, Hungary and the Soviet border, Poland, East Germany and Berlin, then Athens, Madrid, England and Holland before flying home through New York.</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5A4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4"/>
          <a:srcRect/>
          <a:stretch>
            <a:fillRect/>
          </a:stretch>
        </a:blipFill>
        <a:effectLst/>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pp213.jpg">    </p:cNvPr>
          <p:cNvPicPr>
            <a:picLocks noChangeAspect="1"/>
          </p:cNvPicPr>
          <p:nvPr/>
        </p:nvPicPr>
        <p:blipFill>
          <a:blip r:embed="rId1"/>
          <a:stretch>
            <a:fillRect/>
          </a:stretch>
        </p:blipFill>
        <p:spPr>
          <a:xfrm>
            <a:off x="1691640" y="365760"/>
            <a:ext cx="8778240" cy="4937760"/>
          </a:xfrm>
          <a:prstGeom prst="rect">
            <a:avLst/>
          </a:prstGeom>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3B2A1A"/>
                </a:solidFill>
                <a:latin typeface="Cambria" pitchFamily="34" charset="0"/>
                <a:ea typeface="Cambria" pitchFamily="34" charset="-122"/>
                <a:cs typeface="Cambria" pitchFamily="34" charset="-120"/>
              </a:rPr>
              <a:t>Her second passport, 1984–1995</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4A3A28"/>
                </a:solidFill>
                <a:latin typeface="Calibri" pitchFamily="34" charset="0"/>
                <a:ea typeface="Calibri" pitchFamily="34" charset="-122"/>
                <a:cs typeface="Calibri" pitchFamily="34" charset="-120"/>
              </a:rPr>
              <a:t>Her second passport, issued in 1984. Over the next decade its stamps take her to Egypt, Venezuela, Bonaire, Hong Kong, Korea and Japan, Barbados, the Bahamas, Switzerland, France and Austria, and Norway.</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5A4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4"/>
          <a:srcRect/>
          <a:stretch>
            <a:fillRect/>
          </a:stretch>
        </a:blipFill>
        <a:effectLst/>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barbara_map2.jpg">    </p:cNvPr>
          <p:cNvPicPr>
            <a:picLocks noChangeAspect="1"/>
          </p:cNvPicPr>
          <p:nvPr/>
        </p:nvPicPr>
        <p:blipFill>
          <a:blip r:embed="rId1"/>
          <a:stretch>
            <a:fillRect/>
          </a:stretch>
        </p:blipFill>
        <p:spPr>
          <a:xfrm>
            <a:off x="1691640" y="365760"/>
            <a:ext cx="8778240" cy="4937760"/>
          </a:xfrm>
          <a:prstGeom prst="rect">
            <a:avLst/>
          </a:prstGeom>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3B2A1A"/>
                </a:solidFill>
                <a:latin typeface="Cambria" pitchFamily="34" charset="0"/>
                <a:ea typeface="Cambria" pitchFamily="34" charset="-122"/>
                <a:cs typeface="Cambria" pitchFamily="34" charset="-120"/>
              </a:rPr>
              <a:t>Map: her second passport journeys, 1985–1994</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4A3A28"/>
                </a:solidFill>
                <a:latin typeface="Calibri" pitchFamily="34" charset="0"/>
                <a:ea typeface="Calibri" pitchFamily="34" charset="-122"/>
                <a:cs typeface="Calibri" pitchFamily="34" charset="-120"/>
              </a:rPr>
              <a:t>Where the second passport took her: the Pyramids, the Caribbean, East Asia and Europe, each trip starting from home in Bloomington.</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5A4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4"/>
          <a:srcRect/>
          <a:stretch>
            <a:fillRect/>
          </a:stretch>
        </a:blipFill>
        <a:effectLst/>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pp222.jpg">    </p:cNvPr>
          <p:cNvPicPr>
            <a:picLocks noChangeAspect="1"/>
          </p:cNvPicPr>
          <p:nvPr/>
        </p:nvPicPr>
        <p:blipFill>
          <a:blip r:embed="rId1"/>
          <a:stretch>
            <a:fillRect/>
          </a:stretch>
        </p:blipFill>
        <p:spPr>
          <a:xfrm>
            <a:off x="1691640" y="365760"/>
            <a:ext cx="8778240" cy="4937760"/>
          </a:xfrm>
          <a:prstGeom prst="rect">
            <a:avLst/>
          </a:prstGeom>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3B2A1A"/>
                </a:solidFill>
                <a:latin typeface="Cambria" pitchFamily="34" charset="0"/>
                <a:ea typeface="Cambria" pitchFamily="34" charset="-122"/>
                <a:cs typeface="Cambria" pitchFamily="34" charset="-120"/>
              </a:rPr>
              <a:t>Her third passport, 1995–2007</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4A3A28"/>
                </a:solidFill>
                <a:latin typeface="Calibri" pitchFamily="34" charset="0"/>
                <a:ea typeface="Calibri" pitchFamily="34" charset="-122"/>
                <a:cs typeface="Calibri" pitchFamily="34" charset="-120"/>
              </a:rPr>
              <a:t>Her third passport, issued in 1995 when she was nearly 69. Its stamps take her to Greece and Bulgaria, England, Belize, Ireland, the Cayman Islands and the Dominican Republic, the last in 2002, when she was 75.</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5A4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4"/>
          <a:srcRect/>
          <a:stretch>
            <a:fillRect/>
          </a:stretch>
        </a:blipFill>
        <a:effectLst/>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barbara_map3.jpg">    </p:cNvPr>
          <p:cNvPicPr>
            <a:picLocks noChangeAspect="1"/>
          </p:cNvPicPr>
          <p:nvPr/>
        </p:nvPicPr>
        <p:blipFill>
          <a:blip r:embed="rId1"/>
          <a:stretch>
            <a:fillRect/>
          </a:stretch>
        </p:blipFill>
        <p:spPr>
          <a:xfrm>
            <a:off x="1691640" y="365760"/>
            <a:ext cx="8778240" cy="4937760"/>
          </a:xfrm>
          <a:prstGeom prst="rect">
            <a:avLst/>
          </a:prstGeom>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3B2A1A"/>
                </a:solidFill>
                <a:latin typeface="Cambria" pitchFamily="34" charset="0"/>
                <a:ea typeface="Cambria" pitchFamily="34" charset="-122"/>
                <a:cs typeface="Cambria" pitchFamily="34" charset="-120"/>
              </a:rPr>
              <a:t>Map: her third passport journeys, 1995–2002</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4A3A28"/>
                </a:solidFill>
                <a:latin typeface="Calibri" pitchFamily="34" charset="0"/>
                <a:ea typeface="Calibri" pitchFamily="34" charset="-122"/>
                <a:cs typeface="Calibri" pitchFamily="34" charset="-120"/>
              </a:rPr>
              <a:t>Where the third passport took her: the Aegean and the Black Sea, England and Ireland, and many trips to the Caribbean.</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5A4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fish.jpg">    </p:cNvPr>
          <p:cNvPicPr>
            <a:picLocks noChangeAspect="1"/>
          </p:cNvPicPr>
          <p:nvPr/>
        </p:nvPicPr>
        <p:blipFill>
          <a:blip r:embed="rId1"/>
          <a:stretch>
            <a:fillRect/>
          </a:stretch>
        </p:blipFill>
        <p:spPr>
          <a:xfrm>
            <a:off x="3287558" y="365760"/>
            <a:ext cx="5586404"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Phillip's catch, c. early 1970s</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Phillip with four fish on a stringer. On the Restle farm, if you wanted dinner, you caught it yourself, and Phillip clearly had no plans to go hungry.</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barn.jpg">    </p:cNvPr>
          <p:cNvPicPr>
            <a:picLocks noChangeAspect="1"/>
          </p:cNvPicPr>
          <p:nvPr/>
        </p:nvPicPr>
        <p:blipFill>
          <a:blip r:embed="rId1"/>
          <a:stretch>
            <a:fillRect/>
          </a:stretch>
        </p:blipFill>
        <p:spPr>
          <a:xfrm>
            <a:off x="3614623" y="365760"/>
            <a:ext cx="4932274"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Sometimes we were allowed in the house</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The Restle children at the barn with Princess, a Welsh Mountain pony who kicked each of us at least once, and her foal.</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0_0.jpg">    </p:cNvPr>
          <p:cNvPicPr>
            <a:picLocks noChangeAspect="1"/>
          </p:cNvPicPr>
          <p:nvPr/>
        </p:nvPicPr>
        <p:blipFill>
          <a:blip r:embed="rId1"/>
          <a:stretch>
            <a:fillRect/>
          </a:stretch>
        </p:blipFill>
        <p:spPr>
          <a:xfrm>
            <a:off x="2427601" y="365760"/>
            <a:ext cx="7306319"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Just clowning around</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On the porch in Andrea's early teens: Mom pretending to be strangled in the doorway, Andrea hamming it up behind Grandma Selma, who carries on calmly.</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2_0.jpg">    </p:cNvPr>
          <p:cNvPicPr>
            <a:picLocks noChangeAspect="1"/>
          </p:cNvPicPr>
          <p:nvPr/>
        </p:nvPicPr>
        <p:blipFill>
          <a:blip r:embed="rId1"/>
          <a:stretch>
            <a:fillRect/>
          </a:stretch>
        </p:blipFill>
        <p:spPr>
          <a:xfrm>
            <a:off x="731520" y="1098728"/>
            <a:ext cx="5212080" cy="3471824"/>
          </a:xfrm>
          <a:prstGeom prst="rect">
            <a:avLst/>
          </a:prstGeom>
          <a:effectLst>
            <a:outerShdw sx="100000" sy="100000" kx="0" ky="0" algn="bl" rotWithShape="0" blurRad="101600" dist="38100" dir="2700000">
              <a:srgbClr val="000000">
                <a:alpha val="75000"/>
              </a:srgbClr>
            </a:outerShdw>
          </a:effectLst>
        </p:spPr>
      </p:pic>
      <p:pic>
        <p:nvPicPr>
          <p:cNvPr id="3" name="Image 1" descr="/private/tmp/claude-501/-Users-andrearestle-lay-Library-CloudStorage-GoogleDrive-andrearestlelay-gmail-com-My-Drive-2026-Meadowood/b871f448-9862-4656-8c1d-a157f8f50499/scratchpad/phil/2_1.jpg">    </p:cNvPr>
          <p:cNvPicPr>
            <a:picLocks noChangeAspect="1"/>
          </p:cNvPicPr>
          <p:nvPr/>
        </p:nvPicPr>
        <p:blipFill>
          <a:blip r:embed="rId2"/>
          <a:stretch>
            <a:fillRect/>
          </a:stretch>
        </p:blipFill>
        <p:spPr>
          <a:xfrm>
            <a:off x="6217920" y="1081354"/>
            <a:ext cx="5212080" cy="3506572"/>
          </a:xfrm>
          <a:prstGeom prst="rect">
            <a:avLst/>
          </a:prstGeom>
          <a:effectLst>
            <a:outerShdw sx="100000" sy="100000" kx="0" ky="0" algn="bl" rotWithShape="0" blurRad="101600" dist="38100" dir="2700000">
              <a:srgbClr val="000000">
                <a:alpha val="75000"/>
              </a:srgbClr>
            </a:outerShdw>
          </a:effectLst>
        </p:spPr>
      </p:pic>
      <p:sp>
        <p:nvSpPr>
          <p:cNvPr id="4"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Behind the wall</a:t>
            </a:r>
            <a:endParaRPr lang="en-US" sz="22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F3A2E"/>
        </a:solidFill>
        <a:effectLst/>
      </p:bgPr>
    </p:bg>
    <p:spTree>
      <p:nvGrpSpPr>
        <p:cNvPr id="1" name=""/>
        <p:cNvGrpSpPr/>
        <p:nvPr/>
      </p:nvGrpSpPr>
      <p:grpSpPr/>
      <p:sp>
        <p:nvSpPr>
          <p:cNvPr id="2" name="TextBox 1"/>
          <p:cNvSpPr txBox="1"/>
          <p:nvPr/>
        </p:nvSpPr>
        <p:spPr>
          <a:xfrm>
            <a:off x="731520" y="1600200"/>
            <a:ext cx="5852160" cy="457200"/>
          </a:xfrm>
          <a:prstGeom prst="rect">
            <a:avLst/>
          </a:prstGeom>
          <a:noFill/>
        </p:spPr>
        <p:txBody>
          <a:bodyPr wrap="square" lIns="0" rIns="0" tIns="0" bIns="0" anchor="b">
            <a:spAutoFit/>
          </a:bodyPr>
          <a:lstStyle/>
          <a:p>
            <a:r>
              <a:rPr sz="1600" b="1" spc="300">
                <a:solidFill>
                  <a:srgbClr val="C9A461"/>
                </a:solidFill>
                <a:latin typeface="Calibri"/>
              </a:rPr>
              <a:t>PART 1</a:t>
            </a:r>
          </a:p>
        </p:txBody>
      </p:sp>
      <p:sp>
        <p:nvSpPr>
          <p:cNvPr id="3" name="TextBox 2"/>
          <p:cNvSpPr txBox="1"/>
          <p:nvPr/>
        </p:nvSpPr>
        <p:spPr>
          <a:xfrm>
            <a:off x="731520" y="2148840"/>
            <a:ext cx="5852160" cy="1188720"/>
          </a:xfrm>
          <a:prstGeom prst="rect">
            <a:avLst/>
          </a:prstGeom>
          <a:noFill/>
        </p:spPr>
        <p:txBody>
          <a:bodyPr wrap="square" lIns="0" rIns="0" tIns="0" bIns="0" anchor="t">
            <a:spAutoFit/>
          </a:bodyPr>
          <a:lstStyle/>
          <a:p>
            <a:r>
              <a:rPr sz="4400" b="1">
                <a:solidFill>
                  <a:srgbClr val="FFFFFF"/>
                </a:solidFill>
                <a:latin typeface="Cambria"/>
              </a:rPr>
              <a:t>Life on the farm</a:t>
            </a:r>
          </a:p>
        </p:txBody>
      </p:sp>
      <p:cxnSp>
        <p:nvCxnSpPr>
          <p:cNvPr id="4" name="Connector 3"/>
          <p:cNvCxnSpPr/>
          <p:nvPr/>
        </p:nvCxnSpPr>
        <p:spPr>
          <a:xfrm>
            <a:off x="731520" y="3474720"/>
            <a:ext cx="1828800" cy="0"/>
          </a:xfrm>
          <a:prstGeom prst="line">
            <a:avLst/>
          </a:prstGeom>
          <a:ln w="19050">
            <a:solidFill>
              <a:srgbClr val="C9A4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31520" y="3749040"/>
            <a:ext cx="5486400" cy="1371600"/>
          </a:xfrm>
          <a:prstGeom prst="rect">
            <a:avLst/>
          </a:prstGeom>
          <a:noFill/>
        </p:spPr>
        <p:txBody>
          <a:bodyPr wrap="square" lIns="0" rIns="0" tIns="0" bIns="0" anchor="t">
            <a:spAutoFit/>
          </a:bodyPr>
          <a:lstStyle/>
          <a:p>
            <a:r>
              <a:rPr sz="2200" b="0">
                <a:solidFill>
                  <a:srgbClr val="F2EFE8"/>
                </a:solidFill>
                <a:latin typeface="Cambria"/>
              </a:rPr>
              <a:t>Draining the Bottom Road swamp for cornland, and growing up as the farm’s hired hands.</a:t>
            </a:r>
          </a:p>
        </p:txBody>
      </p:sp>
      <p:pic>
        <p:nvPicPr>
          <p:cNvPr id="6" name="Picture 5" descr="div1.jpg"/>
          <p:cNvPicPr>
            <a:picLocks noChangeAspect="1"/>
          </p:cNvPicPr>
          <p:nvPr/>
        </p:nvPicPr>
        <p:blipFill>
          <a:blip r:embed="rId2"/>
          <a:stretch>
            <a:fillRect/>
          </a:stretch>
        </p:blipFill>
        <p:spPr>
          <a:xfrm>
            <a:off x="7075170" y="1337080"/>
            <a:ext cx="4320540" cy="4183840"/>
          </a:xfrm>
          <a:prstGeom prst="rect">
            <a:avLst/>
          </a:prstGeom>
          <a:effectLst>
            <a:outerShdw sx="100000" sy="100000" kx="0" ky="0" algn="bl" rotWithShape="0" blurRad="101600" dist="38100" dir="2700000">
              <a:srgbClr val="000000">
                <a:alpha val="75000"/>
              </a:srgbClr>
            </a:outerShdw>
          </a:effectLst>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F3A2E"/>
        </a:solidFill>
        <a:effectLst/>
      </p:bgPr>
    </p:bg>
    <p:spTree>
      <p:nvGrpSpPr>
        <p:cNvPr id="1" name=""/>
        <p:cNvGrpSpPr/>
        <p:nvPr/>
      </p:nvGrpSpPr>
      <p:grpSpPr/>
      <p:sp>
        <p:nvSpPr>
          <p:cNvPr id="2" name="TextBox 1"/>
          <p:cNvSpPr txBox="1"/>
          <p:nvPr/>
        </p:nvSpPr>
        <p:spPr>
          <a:xfrm>
            <a:off x="731520" y="1600200"/>
            <a:ext cx="5852160" cy="457200"/>
          </a:xfrm>
          <a:prstGeom prst="rect">
            <a:avLst/>
          </a:prstGeom>
          <a:noFill/>
        </p:spPr>
        <p:txBody>
          <a:bodyPr wrap="square" lIns="0" rIns="0" tIns="0" bIns="0" anchor="b">
            <a:spAutoFit/>
          </a:bodyPr>
          <a:lstStyle/>
          <a:p>
            <a:r>
              <a:rPr sz="1600" b="1" spc="300">
                <a:solidFill>
                  <a:srgbClr val="C9A461"/>
                </a:solidFill>
                <a:latin typeface="Calibri"/>
              </a:rPr>
              <a:t>PART 2</a:t>
            </a:r>
          </a:p>
        </p:txBody>
      </p:sp>
      <p:sp>
        <p:nvSpPr>
          <p:cNvPr id="3" name="TextBox 2"/>
          <p:cNvSpPr txBox="1"/>
          <p:nvPr/>
        </p:nvSpPr>
        <p:spPr>
          <a:xfrm>
            <a:off x="731520" y="2148840"/>
            <a:ext cx="5852160" cy="1188720"/>
          </a:xfrm>
          <a:prstGeom prst="rect">
            <a:avLst/>
          </a:prstGeom>
          <a:noFill/>
        </p:spPr>
        <p:txBody>
          <a:bodyPr wrap="square" lIns="0" rIns="0" tIns="0" bIns="0" anchor="t">
            <a:spAutoFit/>
          </a:bodyPr>
          <a:lstStyle/>
          <a:p>
            <a:r>
              <a:rPr sz="4400" b="1">
                <a:solidFill>
                  <a:srgbClr val="FFFFFF"/>
                </a:solidFill>
                <a:latin typeface="Cambria"/>
              </a:rPr>
              <a:t>Born to fly</a:t>
            </a:r>
          </a:p>
        </p:txBody>
      </p:sp>
      <p:cxnSp>
        <p:nvCxnSpPr>
          <p:cNvPr id="4" name="Connector 3"/>
          <p:cNvCxnSpPr/>
          <p:nvPr/>
        </p:nvCxnSpPr>
        <p:spPr>
          <a:xfrm>
            <a:off x="731520" y="3474720"/>
            <a:ext cx="1828800" cy="0"/>
          </a:xfrm>
          <a:prstGeom prst="line">
            <a:avLst/>
          </a:prstGeom>
          <a:ln w="19050">
            <a:solidFill>
              <a:srgbClr val="C9A4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31520" y="3749040"/>
            <a:ext cx="5486400" cy="1371600"/>
          </a:xfrm>
          <a:prstGeom prst="rect">
            <a:avLst/>
          </a:prstGeom>
          <a:noFill/>
        </p:spPr>
        <p:txBody>
          <a:bodyPr wrap="square" lIns="0" rIns="0" tIns="0" bIns="0" anchor="t">
            <a:spAutoFit/>
          </a:bodyPr>
          <a:lstStyle/>
          <a:p>
            <a:r>
              <a:rPr sz="2200" b="0">
                <a:solidFill>
                  <a:srgbClr val="F2EFE8"/>
                </a:solidFill>
                <a:latin typeface="Cambria"/>
              </a:rPr>
              <a:t>A pilot’s license in the 1960s, and one more flight over the refuge at 90.</a:t>
            </a:r>
          </a:p>
        </p:txBody>
      </p:sp>
      <p:pic>
        <p:nvPicPr>
          <p:cNvPr id="6" name="Picture 5" descr="div2.jpg"/>
          <p:cNvPicPr>
            <a:picLocks noChangeAspect="1"/>
          </p:cNvPicPr>
          <p:nvPr/>
        </p:nvPicPr>
        <p:blipFill>
          <a:blip r:embed="rId2"/>
          <a:stretch>
            <a:fillRect/>
          </a:stretch>
        </p:blipFill>
        <p:spPr>
          <a:xfrm>
            <a:off x="7075170" y="2006383"/>
            <a:ext cx="4320540" cy="2845233"/>
          </a:xfrm>
          <a:prstGeom prst="rect">
            <a:avLst/>
          </a:prstGeom>
          <a:effectLst>
            <a:outerShdw sx="100000" sy="100000" kx="0" ky="0" algn="bl" rotWithShape="0" blurRad="101600" dist="38100" dir="2700000">
              <a:srgbClr val="000000">
                <a:alpha val="75000"/>
              </a:srgbClr>
            </a:outerShdw>
          </a:effectLst>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F3A2E"/>
        </a:solidFill>
        <a:effectLst/>
      </p:bgPr>
    </p:bg>
    <p:spTree>
      <p:nvGrpSpPr>
        <p:cNvPr id="1" name=""/>
        <p:cNvGrpSpPr/>
        <p:nvPr/>
      </p:nvGrpSpPr>
      <p:grpSpPr/>
      <p:sp>
        <p:nvSpPr>
          <p:cNvPr id="2" name="TextBox 1"/>
          <p:cNvSpPr txBox="1"/>
          <p:nvPr/>
        </p:nvSpPr>
        <p:spPr>
          <a:xfrm>
            <a:off x="731520" y="1600200"/>
            <a:ext cx="5852160" cy="457200"/>
          </a:xfrm>
          <a:prstGeom prst="rect">
            <a:avLst/>
          </a:prstGeom>
          <a:noFill/>
        </p:spPr>
        <p:txBody>
          <a:bodyPr wrap="square" lIns="0" rIns="0" tIns="0" bIns="0" anchor="b">
            <a:spAutoFit/>
          </a:bodyPr>
          <a:lstStyle/>
          <a:p>
            <a:r>
              <a:rPr sz="1600" b="1" spc="300">
                <a:solidFill>
                  <a:srgbClr val="C9A461"/>
                </a:solidFill>
                <a:latin typeface="Calibri"/>
              </a:rPr>
              <a:t>PART 3</a:t>
            </a:r>
          </a:p>
        </p:txBody>
      </p:sp>
      <p:sp>
        <p:nvSpPr>
          <p:cNvPr id="3" name="TextBox 2"/>
          <p:cNvSpPr txBox="1"/>
          <p:nvPr/>
        </p:nvSpPr>
        <p:spPr>
          <a:xfrm>
            <a:off x="731520" y="2148840"/>
            <a:ext cx="5852160" cy="1188720"/>
          </a:xfrm>
          <a:prstGeom prst="rect">
            <a:avLst/>
          </a:prstGeom>
          <a:noFill/>
        </p:spPr>
        <p:txBody>
          <a:bodyPr wrap="square" lIns="0" rIns="0" tIns="0" bIns="0" anchor="t">
            <a:spAutoFit/>
          </a:bodyPr>
          <a:lstStyle/>
          <a:p>
            <a:r>
              <a:rPr sz="4400" b="1">
                <a:solidFill>
                  <a:srgbClr val="FFFFFF"/>
                </a:solidFill>
                <a:latin typeface="Cambria"/>
              </a:rPr>
              <a:t>Her passports</a:t>
            </a:r>
          </a:p>
        </p:txBody>
      </p:sp>
      <p:cxnSp>
        <p:nvCxnSpPr>
          <p:cNvPr id="4" name="Connector 3"/>
          <p:cNvCxnSpPr/>
          <p:nvPr/>
        </p:nvCxnSpPr>
        <p:spPr>
          <a:xfrm>
            <a:off x="731520" y="3474720"/>
            <a:ext cx="1828800" cy="0"/>
          </a:xfrm>
          <a:prstGeom prst="line">
            <a:avLst/>
          </a:prstGeom>
          <a:ln w="19050">
            <a:solidFill>
              <a:srgbClr val="C9A4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31520" y="3749040"/>
            <a:ext cx="5486400" cy="1371600"/>
          </a:xfrm>
          <a:prstGeom prst="rect">
            <a:avLst/>
          </a:prstGeom>
          <a:noFill/>
        </p:spPr>
        <p:txBody>
          <a:bodyPr wrap="square" lIns="0" rIns="0" tIns="0" bIns="0" anchor="t">
            <a:spAutoFit/>
          </a:bodyPr>
          <a:lstStyle/>
          <a:p>
            <a:r>
              <a:rPr sz="2200" b="0">
                <a:solidFill>
                  <a:srgbClr val="F2EFE8"/>
                </a:solidFill>
                <a:latin typeface="Cambria"/>
              </a:rPr>
              <a:t>Three passports, 1973 to 2007, and the journeys their stamps trace.</a:t>
            </a:r>
          </a:p>
        </p:txBody>
      </p:sp>
      <p:pic>
        <p:nvPicPr>
          <p:cNvPr id="6" name="Picture 5" descr="div3.jpg"/>
          <p:cNvPicPr>
            <a:picLocks noChangeAspect="1"/>
          </p:cNvPicPr>
          <p:nvPr/>
        </p:nvPicPr>
        <p:blipFill>
          <a:blip r:embed="rId2"/>
          <a:stretch>
            <a:fillRect/>
          </a:stretch>
        </p:blipFill>
        <p:spPr>
          <a:xfrm>
            <a:off x="7075170" y="833301"/>
            <a:ext cx="4320540" cy="5191398"/>
          </a:xfrm>
          <a:prstGeom prst="rect">
            <a:avLst/>
          </a:prstGeom>
          <a:effectLst>
            <a:outerShdw sx="100000" sy="100000" kx="0" ky="0" algn="bl" rotWithShape="0" blurRad="101600" dist="38100" dir="2700000">
              <a:srgbClr val="000000">
                <a:alpha val="75000"/>
              </a:srgbClr>
            </a:outerShdw>
          </a:effectLst>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F3A2E"/>
        </a:solidFill>
        <a:effectLst/>
      </p:bgPr>
    </p:bg>
    <p:spTree>
      <p:nvGrpSpPr>
        <p:cNvPr id="1" name=""/>
        <p:cNvGrpSpPr/>
        <p:nvPr/>
      </p:nvGrpSpPr>
      <p:grpSpPr/>
      <p:sp>
        <p:nvSpPr>
          <p:cNvPr id="2" name="TextBox 1"/>
          <p:cNvSpPr txBox="1"/>
          <p:nvPr/>
        </p:nvSpPr>
        <p:spPr>
          <a:xfrm>
            <a:off x="731520" y="1600200"/>
            <a:ext cx="5852160" cy="457200"/>
          </a:xfrm>
          <a:prstGeom prst="rect">
            <a:avLst/>
          </a:prstGeom>
          <a:noFill/>
        </p:spPr>
        <p:txBody>
          <a:bodyPr wrap="square" lIns="0" rIns="0" tIns="0" bIns="0" anchor="b">
            <a:spAutoFit/>
          </a:bodyPr>
          <a:lstStyle/>
          <a:p>
            <a:r>
              <a:rPr sz="1600" b="1" spc="300">
                <a:solidFill>
                  <a:srgbClr val="C9A461"/>
                </a:solidFill>
                <a:latin typeface="Calibri"/>
              </a:rPr>
              <a:t>PART 4</a:t>
            </a:r>
          </a:p>
        </p:txBody>
      </p:sp>
      <p:sp>
        <p:nvSpPr>
          <p:cNvPr id="3" name="TextBox 2"/>
          <p:cNvSpPr txBox="1"/>
          <p:nvPr/>
        </p:nvSpPr>
        <p:spPr>
          <a:xfrm>
            <a:off x="731520" y="2148840"/>
            <a:ext cx="5852160" cy="1188720"/>
          </a:xfrm>
          <a:prstGeom prst="rect">
            <a:avLst/>
          </a:prstGeom>
          <a:noFill/>
        </p:spPr>
        <p:txBody>
          <a:bodyPr wrap="square" lIns="0" rIns="0" tIns="0" bIns="0" anchor="t">
            <a:spAutoFit/>
          </a:bodyPr>
          <a:lstStyle/>
          <a:p>
            <a:r>
              <a:rPr sz="4400" b="1">
                <a:solidFill>
                  <a:srgbClr val="FFFFFF"/>
                </a:solidFill>
                <a:latin typeface="Cambria"/>
              </a:rPr>
              <a:t>Clowning around</a:t>
            </a:r>
          </a:p>
        </p:txBody>
      </p:sp>
      <p:cxnSp>
        <p:nvCxnSpPr>
          <p:cNvPr id="4" name="Connector 3"/>
          <p:cNvCxnSpPr/>
          <p:nvPr/>
        </p:nvCxnSpPr>
        <p:spPr>
          <a:xfrm>
            <a:off x="731520" y="3474720"/>
            <a:ext cx="1828800" cy="0"/>
          </a:xfrm>
          <a:prstGeom prst="line">
            <a:avLst/>
          </a:prstGeom>
          <a:ln w="19050">
            <a:solidFill>
              <a:srgbClr val="C9A4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31520" y="3749040"/>
            <a:ext cx="5486400" cy="1371600"/>
          </a:xfrm>
          <a:prstGeom prst="rect">
            <a:avLst/>
          </a:prstGeom>
          <a:noFill/>
        </p:spPr>
        <p:txBody>
          <a:bodyPr wrap="square" lIns="0" rIns="0" tIns="0" bIns="0" anchor="t">
            <a:spAutoFit/>
          </a:bodyPr>
          <a:lstStyle/>
          <a:p>
            <a:r>
              <a:rPr sz="2200" b="0">
                <a:solidFill>
                  <a:srgbClr val="F2EFE8"/>
                </a:solidFill>
                <a:latin typeface="Cambria"/>
              </a:rPr>
              <a:t>Mom, never too serious for the camera.</a:t>
            </a:r>
          </a:p>
        </p:txBody>
      </p:sp>
      <p:pic>
        <p:nvPicPr>
          <p:cNvPr id="6" name="Picture 5" descr="div4.jpg"/>
          <p:cNvPicPr>
            <a:picLocks noChangeAspect="1"/>
          </p:cNvPicPr>
          <p:nvPr/>
        </p:nvPicPr>
        <p:blipFill>
          <a:blip r:embed="rId2"/>
          <a:stretch>
            <a:fillRect/>
          </a:stretch>
        </p:blipFill>
        <p:spPr>
          <a:xfrm>
            <a:off x="7075170" y="1969045"/>
            <a:ext cx="4320540" cy="2919909"/>
          </a:xfrm>
          <a:prstGeom prst="rect">
            <a:avLst/>
          </a:prstGeom>
          <a:effectLst>
            <a:outerShdw sx="100000" sy="100000" kx="0" ky="0" algn="bl" rotWithShape="0" blurRad="101600" dist="38100" dir="2700000">
              <a:srgbClr val="000000">
                <a:alpha val="7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Mom, born to fly, in pictures</dc:title>
  <dc:subject>PptxGenJS Presentation</dc:subject>
  <dc:creator>PptxGenJS</dc:creator>
  <cp:lastModifiedBy>PptxGenJS</cp:lastModifiedBy>
  <cp:revision>1</cp:revision>
  <dcterms:created xsi:type="dcterms:W3CDTF">2026-09-30T01:42:27Z</dcterms:created>
  <dcterms:modified xsi:type="dcterms:W3CDTF">2026-09-30T01:42:27Z</dcterms:modified>
</cp:coreProperties>
</file>